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66" r:id="rId5"/>
    <p:sldId id="267" r:id="rId6"/>
    <p:sldId id="268" r:id="rId7"/>
    <p:sldId id="269" r:id="rId8"/>
    <p:sldId id="270" r:id="rId9"/>
    <p:sldId id="271" r:id="rId10"/>
    <p:sldId id="27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42D4A8-42A5-4AB0-994B-8F18E06854CA}" v="1" dt="2026-08-05T11:47:33.2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marul farook" userId="11e0a93408a84001" providerId="LiveId" clId="{3329FAE2-E776-4483-8577-3EBAB4920B45}"/>
    <pc:docChg chg="modSld">
      <pc:chgData name="umarul farook" userId="11e0a93408a84001" providerId="LiveId" clId="{3329FAE2-E776-4483-8577-3EBAB4920B45}" dt="2026-08-05T11:47:46.009" v="2" actId="20577"/>
      <pc:docMkLst>
        <pc:docMk/>
      </pc:docMkLst>
      <pc:sldChg chg="modSp mod">
        <pc:chgData name="umarul farook" userId="11e0a93408a84001" providerId="LiveId" clId="{3329FAE2-E776-4483-8577-3EBAB4920B45}" dt="2026-08-05T11:47:46.009" v="2" actId="20577"/>
        <pc:sldMkLst>
          <pc:docMk/>
          <pc:sldMk cId="895915843" sldId="266"/>
        </pc:sldMkLst>
        <pc:spChg chg="mod">
          <ac:chgData name="umarul farook" userId="11e0a93408a84001" providerId="LiveId" clId="{3329FAE2-E776-4483-8577-3EBAB4920B45}" dt="2026-08-05T11:47:46.009" v="2" actId="20577"/>
          <ac:spMkLst>
            <pc:docMk/>
            <pc:sldMk cId="895915843" sldId="266"/>
            <ac:spMk id="3" creationId="{255E1F2F-E259-4EA8-9FFD-3A10AF54185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8/5/2026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87293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8/5/2026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38980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8/5/2026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2331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8/5/2026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57611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8/5/2026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2808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8/5/2026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01771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8/5/2026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0701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8/5/2026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01302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8/5/2026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58826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8/5/2026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60147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452A527-3631-41ED-858D-3777A7D14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peak Pro"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6022077" y="226143"/>
            <a:ext cx="4813072" cy="3494791"/>
          </a:xfrm>
        </p:spPr>
        <p:txBody>
          <a:bodyPr numCol="1" anchor="ctr">
            <a:normAutofit/>
          </a:bodyPr>
          <a:lstStyle/>
          <a:p>
            <a:pPr algn="ctr">
              <a:lnSpc>
                <a:spcPct val="100000"/>
              </a:lnSpc>
            </a:pPr>
            <a:r>
              <a:rPr lang="en-US" dirty="0"/>
              <a:t>Project Report </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6729999" y="4455621"/>
            <a:ext cx="4829101" cy="1238616"/>
          </a:xfrm>
        </p:spPr>
        <p:txBody>
          <a:bodyPr>
            <a:normAutofit/>
          </a:bodyPr>
          <a:lstStyle/>
          <a:p>
            <a:pPr algn="ctr"/>
            <a:r>
              <a:rPr lang="en-IN" dirty="0"/>
              <a:t>Final Remarks</a:t>
            </a:r>
          </a:p>
          <a:p>
            <a:pPr algn="ctr"/>
            <a:endParaRPr lang="en-US" dirty="0"/>
          </a:p>
        </p:txBody>
      </p:sp>
      <p:pic>
        <p:nvPicPr>
          <p:cNvPr id="6" name="Picture 5">
            <a:extLst>
              <a:ext uri="{FF2B5EF4-FFF2-40B4-BE49-F238E27FC236}">
                <a16:creationId xmlns:a16="http://schemas.microsoft.com/office/drawing/2014/main" id="{8940CBE3-3F91-419A-A649-32AB388ECA8B}"/>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 y="10"/>
            <a:ext cx="6096000" cy="6857990"/>
          </a:xfrm>
          <a:prstGeom prst="rect">
            <a:avLst/>
          </a:prstGeom>
        </p:spPr>
      </p:pic>
      <p:cxnSp>
        <p:nvCxnSpPr>
          <p:cNvPr id="26" name="Straight Connector 25">
            <a:extLst>
              <a:ext uri="{FF2B5EF4-FFF2-40B4-BE49-F238E27FC236}">
                <a16:creationId xmlns:a16="http://schemas.microsoft.com/office/drawing/2014/main" id="{D28A9C89-B313-458F-9C85-515930A51A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294754"/>
            <a:ext cx="43891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5915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5D275-D4F7-2487-7B46-D43244677141}"/>
              </a:ext>
            </a:extLst>
          </p:cNvPr>
          <p:cNvSpPr>
            <a:spLocks noGrp="1"/>
          </p:cNvSpPr>
          <p:nvPr>
            <p:ph type="title"/>
          </p:nvPr>
        </p:nvSpPr>
        <p:spPr/>
        <p:txBody>
          <a:bodyPr>
            <a:normAutofit fontScale="90000"/>
          </a:bodyPr>
          <a:lstStyle/>
          <a:p>
            <a:pPr algn="ctr"/>
            <a:r>
              <a:rPr lang="en-US" dirty="0"/>
              <a:t>  </a:t>
            </a:r>
            <a:br>
              <a:rPr lang="en-US" dirty="0"/>
            </a:br>
            <a:r>
              <a:rPr lang="en-US" dirty="0"/>
              <a:t>Why Securing Vision AI Matters</a:t>
            </a:r>
            <a:br>
              <a:rPr lang="en-US" dirty="0"/>
            </a:br>
            <a:r>
              <a:rPr lang="en-US" dirty="0"/>
              <a:t> Content</a:t>
            </a:r>
            <a:endParaRPr lang="en-IN" dirty="0"/>
          </a:p>
        </p:txBody>
      </p:sp>
      <p:sp>
        <p:nvSpPr>
          <p:cNvPr id="3" name="Content Placeholder 2">
            <a:extLst>
              <a:ext uri="{FF2B5EF4-FFF2-40B4-BE49-F238E27FC236}">
                <a16:creationId xmlns:a16="http://schemas.microsoft.com/office/drawing/2014/main" id="{976D7F53-C1B5-8DF6-2451-E82D20E8D5A7}"/>
              </a:ext>
            </a:extLst>
          </p:cNvPr>
          <p:cNvSpPr>
            <a:spLocks noGrp="1"/>
          </p:cNvSpPr>
          <p:nvPr>
            <p:ph idx="1"/>
          </p:nvPr>
        </p:nvSpPr>
        <p:spPr>
          <a:xfrm>
            <a:off x="1097279" y="1927123"/>
            <a:ext cx="10858747" cy="4444180"/>
          </a:xfrm>
        </p:spPr>
        <p:txBody>
          <a:bodyPr>
            <a:normAutofit fontScale="25000" lnSpcReduction="20000"/>
          </a:bodyPr>
          <a:lstStyle/>
          <a:p>
            <a:r>
              <a:rPr lang="en-US" sz="4800" dirty="0"/>
              <a:t>Problem:-</a:t>
            </a:r>
          </a:p>
          <a:p>
            <a:r>
              <a:rPr lang="en-US" sz="4800" dirty="0"/>
              <a:t> -AI image recognition systems are vulnerable to adversarial attacks.</a:t>
            </a:r>
          </a:p>
          <a:p>
            <a:r>
              <a:rPr lang="en-US" sz="4800" dirty="0"/>
              <a:t>-Small image modifications (noise or hidden perturbations) can fool AI into making incorrect --predictions.</a:t>
            </a:r>
          </a:p>
          <a:p>
            <a:r>
              <a:rPr lang="en-US" sz="4800" dirty="0"/>
              <a:t>-These attacks can affect security-critical applications.</a:t>
            </a:r>
          </a:p>
          <a:p>
            <a:r>
              <a:rPr lang="en-IN" sz="4800" dirty="0"/>
              <a:t> Real-World Examples:-</a:t>
            </a:r>
          </a:p>
          <a:p>
            <a:r>
              <a:rPr lang="en-IN" sz="4800" dirty="0"/>
              <a:t>     🚗 Self-driving cars misreading traffic signs.* </a:t>
            </a:r>
          </a:p>
          <a:p>
            <a:r>
              <a:rPr lang="en-IN" sz="4800" dirty="0"/>
              <a:t>     🏥 Medical AI making incorrect diagnoses.*</a:t>
            </a:r>
          </a:p>
          <a:p>
            <a:r>
              <a:rPr lang="en-IN" sz="4800" dirty="0"/>
              <a:t>     🔐 Face recognition systems being bypassed.* </a:t>
            </a:r>
          </a:p>
          <a:p>
            <a:r>
              <a:rPr lang="en-IN" sz="4800" dirty="0"/>
              <a:t>    📹 Smart surveillance detecting the wrong objects.</a:t>
            </a:r>
          </a:p>
          <a:p>
            <a:r>
              <a:rPr lang="en-IN" sz="4800" dirty="0" err="1"/>
              <a:t>roject</a:t>
            </a:r>
            <a:r>
              <a:rPr lang="en-IN" sz="4800" dirty="0"/>
              <a:t> Objective:-</a:t>
            </a:r>
          </a:p>
          <a:p>
            <a:r>
              <a:rPr lang="en-IN" sz="4800" dirty="0"/>
              <a:t>    </a:t>
            </a:r>
            <a:r>
              <a:rPr lang="en-US" sz="4800" dirty="0"/>
              <a:t>Build a Vision AI system that detects adversarial attacks and restores AI prediction accuracy using defense techniques.</a:t>
            </a:r>
          </a:p>
          <a:p>
            <a:endParaRPr lang="en-US" sz="4800" dirty="0"/>
          </a:p>
          <a:p>
            <a:endParaRPr lang="en-US" sz="4800" dirty="0"/>
          </a:p>
          <a:p>
            <a:endParaRPr lang="en-IN" dirty="0"/>
          </a:p>
          <a:p>
            <a:r>
              <a:rPr lang="en-IN" dirty="0"/>
              <a:t>         </a:t>
            </a:r>
          </a:p>
        </p:txBody>
      </p:sp>
    </p:spTree>
    <p:extLst>
      <p:ext uri="{BB962C8B-B14F-4D97-AF65-F5344CB8AC3E}">
        <p14:creationId xmlns:p14="http://schemas.microsoft.com/office/powerpoint/2010/main" val="2512416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5C352-D9E9-7AA9-2012-FBBF9145A877}"/>
              </a:ext>
            </a:extLst>
          </p:cNvPr>
          <p:cNvSpPr>
            <a:spLocks noGrp="1"/>
          </p:cNvSpPr>
          <p:nvPr>
            <p:ph type="title"/>
          </p:nvPr>
        </p:nvSpPr>
        <p:spPr/>
        <p:txBody>
          <a:bodyPr/>
          <a:lstStyle/>
          <a:p>
            <a:pPr algn="ctr"/>
            <a:r>
              <a:rPr lang="en-IN" dirty="0"/>
              <a:t> System Architecture</a:t>
            </a:r>
          </a:p>
        </p:txBody>
      </p:sp>
      <p:sp>
        <p:nvSpPr>
          <p:cNvPr id="3" name="Content Placeholder 2">
            <a:extLst>
              <a:ext uri="{FF2B5EF4-FFF2-40B4-BE49-F238E27FC236}">
                <a16:creationId xmlns:a16="http://schemas.microsoft.com/office/drawing/2014/main" id="{BD6A8569-6A96-5930-0E5B-FE7A1B48F572}"/>
              </a:ext>
            </a:extLst>
          </p:cNvPr>
          <p:cNvSpPr>
            <a:spLocks noGrp="1"/>
          </p:cNvSpPr>
          <p:nvPr>
            <p:ph idx="1"/>
          </p:nvPr>
        </p:nvSpPr>
        <p:spPr>
          <a:xfrm>
            <a:off x="1097280" y="1907458"/>
            <a:ext cx="10058400" cy="3951803"/>
          </a:xfrm>
        </p:spPr>
        <p:txBody>
          <a:bodyPr>
            <a:normAutofit fontScale="77500" lnSpcReduction="20000"/>
          </a:bodyPr>
          <a:lstStyle/>
          <a:p>
            <a:pPr marL="0" indent="0">
              <a:buNone/>
            </a:pPr>
            <a:r>
              <a:rPr lang="en-IN" dirty="0"/>
              <a:t>AI Adversarial Vision Benchmark:-</a:t>
            </a:r>
          </a:p>
          <a:p>
            <a:pPr marL="0" indent="0">
              <a:buNone/>
            </a:pPr>
            <a:r>
              <a:rPr lang="en-IN" dirty="0"/>
              <a:t> </a:t>
            </a:r>
          </a:p>
          <a:p>
            <a:pPr marL="0" indent="0">
              <a:buNone/>
            </a:pPr>
            <a:r>
              <a:rPr lang="en-IN" dirty="0"/>
              <a:t>Explanation:</a:t>
            </a:r>
          </a:p>
          <a:p>
            <a:pPr marL="0" indent="0">
              <a:buNone/>
            </a:pPr>
            <a:endParaRPr lang="en-IN" dirty="0"/>
          </a:p>
          <a:p>
            <a:pPr>
              <a:buFont typeface="Arial" panose="020B0604020202020204" pitchFamily="34" charset="0"/>
              <a:buChar char="•"/>
            </a:pPr>
            <a:r>
              <a:rPr lang="en-US" dirty="0"/>
              <a:t>User uploads an image.</a:t>
            </a:r>
          </a:p>
          <a:p>
            <a:pPr>
              <a:buFont typeface="Arial" panose="020B0604020202020204" pitchFamily="34" charset="0"/>
              <a:buChar char="•"/>
            </a:pPr>
            <a:r>
              <a:rPr lang="en-US" dirty="0"/>
              <a:t>* Attack module generates an adversarial image.</a:t>
            </a:r>
          </a:p>
          <a:p>
            <a:pPr>
              <a:buFont typeface="Arial" panose="020B0604020202020204" pitchFamily="34" charset="0"/>
              <a:buChar char="•"/>
            </a:pPr>
            <a:r>
              <a:rPr lang="en-US" dirty="0"/>
              <a:t>* Defense module removes most of the attack</a:t>
            </a:r>
          </a:p>
          <a:p>
            <a:pPr>
              <a:buFont typeface="Arial" panose="020B0604020202020204" pitchFamily="34" charset="0"/>
              <a:buChar char="•"/>
            </a:pPr>
            <a:r>
              <a:rPr lang="en-US" dirty="0"/>
              <a:t> AI model predicts the object.</a:t>
            </a:r>
          </a:p>
          <a:p>
            <a:pPr>
              <a:buFont typeface="Arial" panose="020B0604020202020204" pitchFamily="34" charset="0"/>
              <a:buChar char="•"/>
            </a:pPr>
            <a:r>
              <a:rPr lang="en-US" dirty="0"/>
              <a:t>* Results are stored for benchmarking.</a:t>
            </a:r>
            <a:endParaRPr lang="en-IN" dirty="0"/>
          </a:p>
          <a:p>
            <a:pPr marL="0" indent="0">
              <a:buNone/>
            </a:pPr>
            <a:r>
              <a:rPr lang="en-US" dirty="0"/>
              <a:t>.</a:t>
            </a:r>
            <a:endParaRPr lang="en-IN" dirty="0"/>
          </a:p>
        </p:txBody>
      </p:sp>
    </p:spTree>
    <p:extLst>
      <p:ext uri="{BB962C8B-B14F-4D97-AF65-F5344CB8AC3E}">
        <p14:creationId xmlns:p14="http://schemas.microsoft.com/office/powerpoint/2010/main" val="3072884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3FF41-4D27-A45D-E027-B5A69E145B77}"/>
              </a:ext>
            </a:extLst>
          </p:cNvPr>
          <p:cNvSpPr>
            <a:spLocks noGrp="1"/>
          </p:cNvSpPr>
          <p:nvPr>
            <p:ph type="title"/>
          </p:nvPr>
        </p:nvSpPr>
        <p:spPr/>
        <p:txBody>
          <a:bodyPr/>
          <a:lstStyle/>
          <a:p>
            <a:pPr algn="ctr"/>
            <a:r>
              <a:rPr lang="en-IN" dirty="0"/>
              <a:t> LIVE DEMO</a:t>
            </a:r>
          </a:p>
        </p:txBody>
      </p:sp>
      <p:sp>
        <p:nvSpPr>
          <p:cNvPr id="3" name="Content Placeholder 2">
            <a:extLst>
              <a:ext uri="{FF2B5EF4-FFF2-40B4-BE49-F238E27FC236}">
                <a16:creationId xmlns:a16="http://schemas.microsoft.com/office/drawing/2014/main" id="{258111DD-7442-E996-9FBC-B11F6F472B57}"/>
              </a:ext>
            </a:extLst>
          </p:cNvPr>
          <p:cNvSpPr>
            <a:spLocks noGrp="1"/>
          </p:cNvSpPr>
          <p:nvPr>
            <p:ph idx="1"/>
          </p:nvPr>
        </p:nvSpPr>
        <p:spPr>
          <a:xfrm>
            <a:off x="1097280" y="1897627"/>
            <a:ext cx="10058400" cy="3951802"/>
          </a:xfrm>
        </p:spPr>
        <p:txBody>
          <a:bodyPr>
            <a:normAutofit fontScale="55000" lnSpcReduction="20000"/>
          </a:bodyPr>
          <a:lstStyle/>
          <a:p>
            <a:r>
              <a:rPr lang="en-IN" dirty="0"/>
              <a:t> Demonstration Flow :-</a:t>
            </a:r>
          </a:p>
          <a:p>
            <a:r>
              <a:rPr lang="en-IN" dirty="0"/>
              <a:t>Step 1Upload a clean image.➡️ AI </a:t>
            </a:r>
            <a:r>
              <a:rPr lang="en-IN" dirty="0" err="1"/>
              <a:t>PredictionExample:CatConfidence</a:t>
            </a:r>
            <a:r>
              <a:rPr lang="en-IN" dirty="0"/>
              <a:t>: 99%</a:t>
            </a:r>
          </a:p>
          <a:p>
            <a:endParaRPr lang="en-IN" dirty="0"/>
          </a:p>
          <a:p>
            <a:r>
              <a:rPr lang="en-IN" dirty="0"/>
              <a:t>Step 2Apply Adversarial </a:t>
            </a:r>
            <a:r>
              <a:rPr lang="en-IN" dirty="0" err="1"/>
              <a:t>AttackNoise</a:t>
            </a:r>
            <a:r>
              <a:rPr lang="en-IN" dirty="0"/>
              <a:t> </a:t>
            </a:r>
            <a:r>
              <a:rPr lang="en-IN" dirty="0" err="1"/>
              <a:t>AddedPrediction</a:t>
            </a:r>
            <a:r>
              <a:rPr lang="en-IN" dirty="0"/>
              <a:t> </a:t>
            </a:r>
            <a:r>
              <a:rPr lang="en-IN" dirty="0" err="1"/>
              <a:t>becomesDogConfidence</a:t>
            </a:r>
            <a:r>
              <a:rPr lang="en-IN" dirty="0"/>
              <a:t>: 42% </a:t>
            </a:r>
          </a:p>
          <a:p>
            <a:r>
              <a:rPr lang="en-IN" dirty="0"/>
              <a:t>Step 3Enable </a:t>
            </a:r>
            <a:r>
              <a:rPr lang="en-IN" dirty="0" err="1"/>
              <a:t>Defense</a:t>
            </a:r>
            <a:r>
              <a:rPr lang="en-IN" dirty="0"/>
              <a:t> </a:t>
            </a:r>
            <a:r>
              <a:rPr lang="en-IN" dirty="0" err="1"/>
              <a:t>FilterPrediction</a:t>
            </a:r>
            <a:r>
              <a:rPr lang="en-IN" dirty="0"/>
              <a:t> </a:t>
            </a:r>
            <a:r>
              <a:rPr lang="en-IN" dirty="0" err="1"/>
              <a:t>recoversCatConfidence</a:t>
            </a:r>
            <a:r>
              <a:rPr lang="en-IN" dirty="0"/>
              <a:t>: 93%</a:t>
            </a:r>
          </a:p>
          <a:p>
            <a:r>
              <a:rPr lang="en-IN" dirty="0"/>
              <a:t> Explain During Demo</a:t>
            </a:r>
          </a:p>
          <a:p>
            <a:r>
              <a:rPr lang="en-IN" dirty="0"/>
              <a:t>Upload image✔️</a:t>
            </a:r>
          </a:p>
          <a:p>
            <a:r>
              <a:rPr lang="en-IN" dirty="0"/>
              <a:t> Click *Run Attack*✔️ </a:t>
            </a:r>
          </a:p>
          <a:p>
            <a:r>
              <a:rPr lang="en-IN" dirty="0"/>
              <a:t>Observe incorrect prediction✔️</a:t>
            </a:r>
          </a:p>
          <a:p>
            <a:r>
              <a:rPr lang="en-IN" dirty="0"/>
              <a:t> Enable *</a:t>
            </a:r>
            <a:r>
              <a:rPr lang="en-IN" dirty="0" err="1"/>
              <a:t>Defense</a:t>
            </a:r>
            <a:r>
              <a:rPr lang="en-IN" dirty="0"/>
              <a:t>*✔️</a:t>
            </a:r>
          </a:p>
          <a:p>
            <a:r>
              <a:rPr lang="en-IN" dirty="0"/>
              <a:t> Observe recovery✔️</a:t>
            </a:r>
          </a:p>
          <a:p>
            <a:r>
              <a:rPr lang="en-IN" dirty="0"/>
              <a:t> Benchmark updated automatically ✔️</a:t>
            </a:r>
          </a:p>
        </p:txBody>
      </p:sp>
    </p:spTree>
    <p:extLst>
      <p:ext uri="{BB962C8B-B14F-4D97-AF65-F5344CB8AC3E}">
        <p14:creationId xmlns:p14="http://schemas.microsoft.com/office/powerpoint/2010/main" val="3859803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127B9-0038-974A-92F3-F096E4DC3067}"/>
              </a:ext>
            </a:extLst>
          </p:cNvPr>
          <p:cNvSpPr>
            <a:spLocks noGrp="1"/>
          </p:cNvSpPr>
          <p:nvPr>
            <p:ph type="title"/>
          </p:nvPr>
        </p:nvSpPr>
        <p:spPr/>
        <p:txBody>
          <a:bodyPr/>
          <a:lstStyle/>
          <a:p>
            <a:pPr algn="ctr"/>
            <a:r>
              <a:rPr lang="en-IN" dirty="0"/>
              <a:t>Benchmark Charts &amp; Findings</a:t>
            </a:r>
          </a:p>
        </p:txBody>
      </p:sp>
      <p:sp>
        <p:nvSpPr>
          <p:cNvPr id="3" name="Content Placeholder 2">
            <a:extLst>
              <a:ext uri="{FF2B5EF4-FFF2-40B4-BE49-F238E27FC236}">
                <a16:creationId xmlns:a16="http://schemas.microsoft.com/office/drawing/2014/main" id="{0157B6D6-8440-6FCF-1E8D-D5E05611A913}"/>
              </a:ext>
            </a:extLst>
          </p:cNvPr>
          <p:cNvSpPr>
            <a:spLocks noGrp="1"/>
          </p:cNvSpPr>
          <p:nvPr>
            <p:ph idx="1"/>
          </p:nvPr>
        </p:nvSpPr>
        <p:spPr/>
        <p:txBody>
          <a:bodyPr>
            <a:normAutofit fontScale="62500" lnSpcReduction="20000"/>
          </a:bodyPr>
          <a:lstStyle/>
          <a:p>
            <a:r>
              <a:rPr lang="en-IN" dirty="0"/>
              <a:t> Attack Impact:-</a:t>
            </a:r>
          </a:p>
          <a:p>
            <a:r>
              <a:rPr lang="en-IN" dirty="0"/>
              <a:t>| Test          | Accuracy |</a:t>
            </a:r>
          </a:p>
          <a:p>
            <a:r>
              <a:rPr lang="en-IN" dirty="0"/>
              <a:t> || Baseline      | 95%      | Under Attack  | 38%      | After </a:t>
            </a:r>
            <a:r>
              <a:rPr lang="en-IN" dirty="0" err="1"/>
              <a:t>Defense</a:t>
            </a:r>
            <a:r>
              <a:rPr lang="en-IN" dirty="0"/>
              <a:t> | 89%   </a:t>
            </a:r>
          </a:p>
          <a:p>
            <a:r>
              <a:rPr lang="en-IN" dirty="0"/>
              <a:t> Suggested Charts:-</a:t>
            </a:r>
          </a:p>
          <a:p>
            <a:r>
              <a:rPr lang="en-IN" dirty="0"/>
              <a:t> Chart 1</a:t>
            </a:r>
          </a:p>
          <a:p>
            <a:pPr marL="0" indent="0">
              <a:buNone/>
            </a:pPr>
            <a:r>
              <a:rPr lang="en-IN" dirty="0"/>
              <a:t>  Baseline Accuracy* Accuracy Under Attack* Accuracy After </a:t>
            </a:r>
            <a:r>
              <a:rPr lang="en-IN" dirty="0" err="1"/>
              <a:t>Defense</a:t>
            </a:r>
            <a:endParaRPr lang="en-IN" dirty="0"/>
          </a:p>
          <a:p>
            <a:r>
              <a:rPr lang="en-IN" dirty="0"/>
              <a:t>Chart 2 </a:t>
            </a:r>
          </a:p>
          <a:p>
            <a:r>
              <a:rPr lang="en-IN" dirty="0"/>
              <a:t>Attack Success vs Attack Failed* </a:t>
            </a:r>
            <a:r>
              <a:rPr lang="en-IN" dirty="0" err="1"/>
              <a:t>Defense</a:t>
            </a:r>
            <a:r>
              <a:rPr lang="en-IN" dirty="0"/>
              <a:t> Recovery vs </a:t>
            </a:r>
            <a:r>
              <a:rPr lang="en-IN" dirty="0" err="1"/>
              <a:t>Defense</a:t>
            </a:r>
            <a:r>
              <a:rPr lang="en-IN" dirty="0"/>
              <a:t> Failed </a:t>
            </a:r>
          </a:p>
          <a:p>
            <a:r>
              <a:rPr lang="en-IN" dirty="0"/>
              <a:t>Findings:-</a:t>
            </a:r>
          </a:p>
          <a:p>
            <a:r>
              <a:rPr lang="en-IN" dirty="0"/>
              <a:t>Attack reduced accuracy by approximately *57%*.* </a:t>
            </a:r>
            <a:r>
              <a:rPr lang="en-IN" dirty="0" err="1"/>
              <a:t>Defense</a:t>
            </a:r>
            <a:r>
              <a:rPr lang="en-IN" dirty="0"/>
              <a:t> restored accuracy to *89%*.* Blur and Median filters significantly improved prediction reliability.* Benchmark validated using *20 diverse images*.</a:t>
            </a:r>
          </a:p>
        </p:txBody>
      </p:sp>
    </p:spTree>
    <p:extLst>
      <p:ext uri="{BB962C8B-B14F-4D97-AF65-F5344CB8AC3E}">
        <p14:creationId xmlns:p14="http://schemas.microsoft.com/office/powerpoint/2010/main" val="2965265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F239E-DAC5-30E4-C7DC-02C287C845B7}"/>
              </a:ext>
            </a:extLst>
          </p:cNvPr>
          <p:cNvSpPr>
            <a:spLocks noGrp="1"/>
          </p:cNvSpPr>
          <p:nvPr>
            <p:ph type="title"/>
          </p:nvPr>
        </p:nvSpPr>
        <p:spPr/>
        <p:txBody>
          <a:bodyPr/>
          <a:lstStyle/>
          <a:p>
            <a:pPr algn="ctr"/>
            <a:r>
              <a:rPr lang="en-US" dirty="0"/>
              <a:t>Key Learnings &amp; Future Enhancements</a:t>
            </a:r>
            <a:endParaRPr lang="en-IN" dirty="0"/>
          </a:p>
        </p:txBody>
      </p:sp>
      <p:sp>
        <p:nvSpPr>
          <p:cNvPr id="3" name="Content Placeholder 2">
            <a:extLst>
              <a:ext uri="{FF2B5EF4-FFF2-40B4-BE49-F238E27FC236}">
                <a16:creationId xmlns:a16="http://schemas.microsoft.com/office/drawing/2014/main" id="{8539DBFD-E912-6FE7-DF81-49D6D2DDA412}"/>
              </a:ext>
            </a:extLst>
          </p:cNvPr>
          <p:cNvSpPr>
            <a:spLocks noGrp="1"/>
          </p:cNvSpPr>
          <p:nvPr>
            <p:ph idx="1"/>
          </p:nvPr>
        </p:nvSpPr>
        <p:spPr>
          <a:xfrm>
            <a:off x="1066800" y="1891892"/>
            <a:ext cx="10058400" cy="4292599"/>
          </a:xfrm>
        </p:spPr>
        <p:txBody>
          <a:bodyPr>
            <a:normAutofit fontScale="62500" lnSpcReduction="20000"/>
          </a:bodyPr>
          <a:lstStyle/>
          <a:p>
            <a:r>
              <a:rPr lang="en-IN" dirty="0"/>
              <a:t>Key Learnings:-</a:t>
            </a:r>
          </a:p>
          <a:p>
            <a:r>
              <a:rPr lang="en-IN" dirty="0"/>
              <a:t>* Vision AI is vulnerable to adversarial attacks.</a:t>
            </a:r>
          </a:p>
          <a:p>
            <a:r>
              <a:rPr lang="en-IN" dirty="0"/>
              <a:t>* Simple perturbations can drastically reduce accuracy.</a:t>
            </a:r>
          </a:p>
          <a:p>
            <a:r>
              <a:rPr lang="en-IN" dirty="0"/>
              <a:t>* </a:t>
            </a:r>
            <a:r>
              <a:rPr lang="en-IN" dirty="0" err="1"/>
              <a:t>Defense</a:t>
            </a:r>
            <a:r>
              <a:rPr lang="en-IN" dirty="0"/>
              <a:t> filters improve robustness.</a:t>
            </a:r>
          </a:p>
          <a:p>
            <a:r>
              <a:rPr lang="en-IN" dirty="0"/>
              <a:t>* Benchmarking helps evaluate AI security.</a:t>
            </a:r>
          </a:p>
          <a:p>
            <a:r>
              <a:rPr lang="en-IN" dirty="0"/>
              <a:t>* </a:t>
            </a:r>
            <a:r>
              <a:rPr lang="en-IN" dirty="0" err="1"/>
              <a:t>Streamlit</a:t>
            </a:r>
            <a:r>
              <a:rPr lang="en-IN" dirty="0"/>
              <a:t> provides an interactive evaluation interface.</a:t>
            </a:r>
          </a:p>
          <a:p>
            <a:r>
              <a:rPr lang="en-IN" dirty="0"/>
              <a:t>Future Enhancements:-</a:t>
            </a:r>
          </a:p>
          <a:p>
            <a:r>
              <a:rPr lang="en-IN" dirty="0"/>
              <a:t>* Deep Learning–based </a:t>
            </a:r>
            <a:r>
              <a:rPr lang="en-IN" dirty="0" err="1"/>
              <a:t>defense</a:t>
            </a:r>
            <a:r>
              <a:rPr lang="en-IN" dirty="0"/>
              <a:t> models.</a:t>
            </a:r>
          </a:p>
          <a:p>
            <a:r>
              <a:rPr lang="en-IN" dirty="0"/>
              <a:t>* Support for additional attack techniques (FGSM, PGD, CW).</a:t>
            </a:r>
          </a:p>
          <a:p>
            <a:r>
              <a:rPr lang="en-IN" dirty="0"/>
              <a:t>* Real-time webcam protection.</a:t>
            </a:r>
          </a:p>
          <a:p>
            <a:r>
              <a:rPr lang="en-IN" dirty="0"/>
              <a:t>* Automated attack detection.</a:t>
            </a:r>
          </a:p>
          <a:p>
            <a:r>
              <a:rPr lang="en-IN" dirty="0"/>
              <a:t>* Cloud deployment.</a:t>
            </a:r>
          </a:p>
          <a:p>
            <a:endParaRPr lang="en-IN" dirty="0"/>
          </a:p>
          <a:p>
            <a:endParaRPr lang="en-IN" dirty="0"/>
          </a:p>
        </p:txBody>
      </p:sp>
    </p:spTree>
    <p:extLst>
      <p:ext uri="{BB962C8B-B14F-4D97-AF65-F5344CB8AC3E}">
        <p14:creationId xmlns:p14="http://schemas.microsoft.com/office/powerpoint/2010/main" val="3817214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ED6E5-7D4C-6595-7389-DCE3EB4AAC25}"/>
              </a:ext>
            </a:extLst>
          </p:cNvPr>
          <p:cNvSpPr>
            <a:spLocks noGrp="1"/>
          </p:cNvSpPr>
          <p:nvPr>
            <p:ph type="title"/>
          </p:nvPr>
        </p:nvSpPr>
        <p:spPr/>
        <p:txBody>
          <a:bodyPr/>
          <a:lstStyle/>
          <a:p>
            <a:pPr algn="ctr"/>
            <a:r>
              <a:rPr lang="en-IN" dirty="0"/>
              <a:t>Conclusion</a:t>
            </a:r>
          </a:p>
        </p:txBody>
      </p:sp>
      <p:sp>
        <p:nvSpPr>
          <p:cNvPr id="3" name="Content Placeholder 2">
            <a:extLst>
              <a:ext uri="{FF2B5EF4-FFF2-40B4-BE49-F238E27FC236}">
                <a16:creationId xmlns:a16="http://schemas.microsoft.com/office/drawing/2014/main" id="{33412F65-EBB4-A052-355A-09BFF20CAD2D}"/>
              </a:ext>
            </a:extLst>
          </p:cNvPr>
          <p:cNvSpPr>
            <a:spLocks noGrp="1"/>
          </p:cNvSpPr>
          <p:nvPr>
            <p:ph idx="1"/>
          </p:nvPr>
        </p:nvSpPr>
        <p:spPr>
          <a:xfrm>
            <a:off x="1097280" y="1911556"/>
            <a:ext cx="10058400" cy="3760891"/>
          </a:xfrm>
        </p:spPr>
        <p:txBody>
          <a:bodyPr>
            <a:normAutofit fontScale="32500" lnSpcReduction="20000"/>
          </a:bodyPr>
          <a:lstStyle/>
          <a:p>
            <a:r>
              <a:rPr lang="en-US" sz="9800" dirty="0"/>
              <a:t>Conclusion:-</a:t>
            </a:r>
          </a:p>
          <a:p>
            <a:endParaRPr lang="en-US" dirty="0"/>
          </a:p>
          <a:p>
            <a:r>
              <a:rPr lang="en-US" sz="4500" dirty="0"/>
              <a:t>This project demonstrated how adversarial attacks can significantly reduce the accuracy of Vision AI systems and highlighted the importance of implementing effective defense mechanisms. By developing an AI Adversarial Vision Benchmark, we successfully evaluated attack impact, measured defense recovery, and visualized the results through benchmark metrics. The findings show that applying defense techniques can substantially improve the robustness and reliability of AI image classification systems</a:t>
            </a:r>
            <a:r>
              <a:rPr lang="en-US" sz="3300" dirty="0"/>
              <a:t>.</a:t>
            </a:r>
          </a:p>
          <a:p>
            <a:pPr marL="0" indent="0">
              <a:buNone/>
            </a:pPr>
            <a:r>
              <a:rPr lang="en-US" sz="5000" dirty="0"/>
              <a:t>for your time and attention. Thank you </a:t>
            </a:r>
          </a:p>
          <a:p>
            <a:r>
              <a:rPr lang="en-US" sz="7000" dirty="0"/>
              <a:t>Thank You!</a:t>
            </a:r>
          </a:p>
          <a:p>
            <a:endParaRPr lang="en-US" sz="3300" dirty="0"/>
          </a:p>
          <a:p>
            <a:endParaRPr lang="en-US" dirty="0"/>
          </a:p>
          <a:p>
            <a:r>
              <a:rPr lang="en-US" dirty="0"/>
              <a:t>**</a:t>
            </a:r>
            <a:endParaRPr lang="en-IN" dirty="0"/>
          </a:p>
        </p:txBody>
      </p:sp>
    </p:spTree>
    <p:extLst>
      <p:ext uri="{BB962C8B-B14F-4D97-AF65-F5344CB8AC3E}">
        <p14:creationId xmlns:p14="http://schemas.microsoft.com/office/powerpoint/2010/main" val="1567580565"/>
      </p:ext>
    </p:extLst>
  </p:cSld>
  <p:clrMapOvr>
    <a:masterClrMapping/>
  </p:clrMapOvr>
</p:sld>
</file>

<file path=ppt/theme/theme1.xml><?xml version="1.0" encoding="utf-8"?>
<a:theme xmlns:a="http://schemas.openxmlformats.org/drawingml/2006/main" name="RetrospectVTI">
  <a:themeElements>
    <a:clrScheme name="">
      <a:dk1>
        <a:srgbClr val="000000"/>
      </a:dk1>
      <a:lt1>
        <a:srgbClr val="FFFFFF"/>
      </a:lt1>
      <a:dk2>
        <a:srgbClr val="243541"/>
      </a:dk2>
      <a:lt2>
        <a:srgbClr val="E2E5E8"/>
      </a:lt2>
      <a:accent1>
        <a:srgbClr val="E88B33"/>
      </a:accent1>
      <a:accent2>
        <a:srgbClr val="AEA33A"/>
      </a:accent2>
      <a:accent3>
        <a:srgbClr val="8CAB4A"/>
      </a:accent3>
      <a:accent4>
        <a:srgbClr val="57B636"/>
      </a:accent4>
      <a:accent5>
        <a:srgbClr val="2EBA43"/>
      </a:accent5>
      <a:accent6>
        <a:srgbClr val="33B67D"/>
      </a:accent6>
      <a:hlink>
        <a:srgbClr val="5F84A8"/>
      </a:hlink>
      <a:folHlink>
        <a:srgbClr val="7F7F7F"/>
      </a:folHlink>
    </a:clrScheme>
    <a:fontScheme name="Retrospect">
      <a:majorFont>
        <a:latin typeface="Georgia Pro Cond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peak Pro"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Override1.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F3CD65D-61A5-43C9-A837-6EC73C7DA8A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16377351-63A1-4C2E-8C9A-66CDD70F16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1F006B4-A9E1-4F39-85C8-FB836F91934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{FD63264D-6674-44A6-9D7E-A7461647A33A}TF235124e3-e6db-4c6d-93c8-733f2fadbc609fb6f57c_win32-b1e91d96f19e</Template>
  <TotalTime>52</TotalTime>
  <Words>499</Words>
  <Application>Microsoft Office PowerPoint</Application>
  <PresentationFormat>Widescreen</PresentationFormat>
  <Paragraphs>75</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Georgia Pro Cond Light</vt:lpstr>
      <vt:lpstr>Speak Pro</vt:lpstr>
      <vt:lpstr>RetrospectVTI</vt:lpstr>
      <vt:lpstr>Project Report </vt:lpstr>
      <vt:lpstr>   Why Securing Vision AI Matters  Content</vt:lpstr>
      <vt:lpstr> System Architecture</vt:lpstr>
      <vt:lpstr> LIVE DEMO</vt:lpstr>
      <vt:lpstr>Benchmark Charts &amp; Findings</vt:lpstr>
      <vt:lpstr>Key Learnings &amp; Future Enhancements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umarul farook</dc:creator>
  <cp:lastModifiedBy>umarul farook</cp:lastModifiedBy>
  <cp:revision>1</cp:revision>
  <dcterms:created xsi:type="dcterms:W3CDTF">2026-08-05T10:53:35Z</dcterms:created>
  <dcterms:modified xsi:type="dcterms:W3CDTF">2026-08-05T11:47:52Z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